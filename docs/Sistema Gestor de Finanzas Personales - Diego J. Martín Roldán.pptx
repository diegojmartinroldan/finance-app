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4.png" ContentType="image/png"/>
  <Override PartName="/ppt/media/image21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5.png" ContentType="image/png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8121DB-DA6A-45B7-949B-6B83916424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30E520-27F4-45E1-BE5B-AE8F96B16F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1C640E-3613-4224-B852-91EA8E4F72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7196F2-1193-4D20-9ED7-178B1E9AF4F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4DB512-8D76-4B51-876C-4E56B1CB88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33D2B6-8ED0-44D7-9EB4-AACBF2033C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0F7792-3063-4884-A38B-CB4B65CB2A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18A883-23D9-4254-8C91-E9D14379DA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F0AB96-2508-4C02-803B-BA221A1EE7C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D773DE-C803-4FD8-9CAE-3B672B1D331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A4B56B-2779-4BD6-8955-419C50BB79E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0FCB92-A116-4698-B4E1-4C2FA833EC8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4DF748-A2C4-4251-9A8C-34AA3E71CAA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4E12B9-6817-48CA-AFCF-6BAD2FF7FF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A346237-AD23-4C4A-B438-D8BD8C70F5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FB7643-8965-4233-A09F-A18D78A67CB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1B609A-AF29-48EA-9758-17597E2B424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76C9839-B065-4AD6-BD26-CCB9154CDD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FA0D87F-D517-435D-9502-4E10FA188C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579CF9C-56E2-49E4-AF96-C6A73DB2E1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78EA79D-A456-44B9-BF59-ABF246AFC4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64CEB34-D05E-411C-957E-08A40DF392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CC4FEB1-CBD8-455A-8E33-F66A960E89A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9A111C7-9168-4C5E-A898-7E05154A55F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Imagen 7" descr="Imagen que contiene objeto, luz, reloj, tráfico&#10;&#10;Descripción generada automáticamente"/>
          <p:cNvPicPr/>
          <p:nvPr/>
        </p:nvPicPr>
        <p:blipFill>
          <a:blip r:embed="rId2"/>
          <a:stretch/>
        </p:blipFill>
        <p:spPr>
          <a:xfrm>
            <a:off x="11279880" y="253440"/>
            <a:ext cx="529920" cy="58392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B4A4F1-535E-40BC-9E55-67C51124773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n 7" descr="Imagen que contiene objeto, luz, reloj, tráfico&#10;&#10;Descripción generada automáticamente"/>
          <p:cNvPicPr/>
          <p:nvPr/>
        </p:nvPicPr>
        <p:blipFill>
          <a:blip r:embed="rId2"/>
          <a:stretch/>
        </p:blipFill>
        <p:spPr>
          <a:xfrm>
            <a:off x="11279880" y="253440"/>
            <a:ext cx="529920" cy="583920"/>
          </a:xfrm>
          <a:prstGeom prst="rect">
            <a:avLst/>
          </a:prstGeom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A55937-55BA-46CA-91C8-5EF698B74A1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ángulo 5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134c90"/>
              </a:gs>
              <a:gs pos="100000">
                <a:srgbClr val="00bbac"/>
              </a:gs>
            </a:gsLst>
            <a:lin ang="18900000"/>
          </a:gradFill>
          <a:ln w="12600">
            <a:solidFill>
              <a:srgbClr val="325490"/>
            </a:solidFill>
            <a:miter/>
          </a:ln>
        </p:spPr>
        <p:style>
          <a:lnRef idx="0"/>
          <a:fillRef idx="0"/>
          <a:effectRef idx="0"/>
          <a:fontRef idx="minor"/>
        </p:style>
      </p:sp>
      <p:grpSp>
        <p:nvGrpSpPr>
          <p:cNvPr id="85" name="Grupo 1"/>
          <p:cNvGrpSpPr/>
          <p:nvPr/>
        </p:nvGrpSpPr>
        <p:grpSpPr>
          <a:xfrm>
            <a:off x="1371600" y="1080000"/>
            <a:ext cx="8152200" cy="1064520"/>
            <a:chOff x="1371600" y="1080000"/>
            <a:chExt cx="8152200" cy="1064520"/>
          </a:xfrm>
        </p:grpSpPr>
        <p:sp>
          <p:nvSpPr>
            <p:cNvPr id="86" name="Rectángulo 18"/>
            <p:cNvSpPr/>
            <p:nvPr/>
          </p:nvSpPr>
          <p:spPr>
            <a:xfrm>
              <a:off x="1371600" y="1143000"/>
              <a:ext cx="106920" cy="475920"/>
            </a:xfrm>
            <a:prstGeom prst="rect">
              <a:avLst/>
            </a:prstGeom>
            <a:solidFill>
              <a:srgbClr val="45b8ac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7" name="CuadroTexto 20"/>
            <p:cNvSpPr/>
            <p:nvPr/>
          </p:nvSpPr>
          <p:spPr>
            <a:xfrm>
              <a:off x="1479600" y="1080000"/>
              <a:ext cx="8044200" cy="106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s-ES" sz="3200" spc="-1" strike="noStrike">
                  <a:solidFill>
                    <a:srgbClr val="ffffff"/>
                  </a:solidFill>
                  <a:latin typeface="Raleway SemiBold"/>
                  <a:ea typeface="DejaVu Sans"/>
                </a:rPr>
                <a:t>Sistema de gestión de finanzas personales</a:t>
              </a:r>
              <a:endParaRPr b="0" lang="en-US" sz="3200" spc="-1" strike="noStrike">
                <a:latin typeface="Arial"/>
              </a:endParaRPr>
            </a:p>
          </p:txBody>
        </p:sp>
      </p:grpSp>
      <p:sp>
        <p:nvSpPr>
          <p:cNvPr id="88" name="Title 14"/>
          <p:cNvSpPr/>
          <p:nvPr/>
        </p:nvSpPr>
        <p:spPr>
          <a:xfrm>
            <a:off x="2224440" y="3589200"/>
            <a:ext cx="7742160" cy="13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s-ES" sz="2800" spc="-1" strike="noStrike">
                <a:solidFill>
                  <a:srgbClr val="e7e6e6"/>
                </a:solidFill>
                <a:latin typeface="Addington CF Regular"/>
                <a:ea typeface="Roboto"/>
              </a:rPr>
              <a:t>Diego Jesús Martín Roldán</a:t>
            </a:r>
            <a:endParaRPr b="0" lang="en-US" sz="2800" spc="-1" strike="noStrike">
              <a:latin typeface="Arial"/>
            </a:endParaRPr>
          </a:p>
          <a:p>
            <a:pPr algn="ctr">
              <a:lnSpc>
                <a:spcPct val="90000"/>
              </a:lnSpc>
              <a:buNone/>
            </a:pPr>
            <a:r>
              <a:rPr b="0" lang="es-ES" sz="2800" spc="-1" strike="noStrike">
                <a:solidFill>
                  <a:srgbClr val="e7e6e6"/>
                </a:solidFill>
                <a:latin typeface="Addington CF Regular"/>
                <a:ea typeface="Roboto"/>
              </a:rPr>
              <a:t>Curso 2025-2026</a:t>
            </a:r>
            <a:endParaRPr b="0" lang="en-US" sz="2800" spc="-1" strike="noStrike">
              <a:latin typeface="Arial"/>
            </a:endParaRPr>
          </a:p>
          <a:p>
            <a:pPr algn="ctr">
              <a:lnSpc>
                <a:spcPct val="90000"/>
              </a:lnSpc>
              <a:buNone/>
            </a:pPr>
            <a:r>
              <a:rPr b="0" lang="es-ES" sz="2800" spc="-1" strike="noStrike">
                <a:solidFill>
                  <a:srgbClr val="e7e6e6"/>
                </a:solidFill>
                <a:latin typeface="Addington CF Regular"/>
                <a:ea typeface="Roboto"/>
              </a:rPr>
              <a:t>Desarrollo de Aplicaciones Multiplataforma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89" name="Imagen 13" descr="Imagen que contiene Logotipo&#10;&#10;Descripción generada automáticamente"/>
          <p:cNvPicPr/>
          <p:nvPr/>
        </p:nvPicPr>
        <p:blipFill>
          <a:blip r:embed="rId1"/>
          <a:stretch/>
        </p:blipFill>
        <p:spPr>
          <a:xfrm>
            <a:off x="11264400" y="228600"/>
            <a:ext cx="553320" cy="608400"/>
          </a:xfrm>
          <a:prstGeom prst="rect">
            <a:avLst/>
          </a:prstGeom>
          <a:ln w="0">
            <a:noFill/>
          </a:ln>
        </p:spPr>
      </p:pic>
      <p:pic>
        <p:nvPicPr>
          <p:cNvPr id="90" name="Imagen 2" descr=""/>
          <p:cNvPicPr/>
          <p:nvPr/>
        </p:nvPicPr>
        <p:blipFill>
          <a:blip r:embed="rId2"/>
          <a:srcRect l="0" t="0" r="0" b="40758"/>
          <a:stretch/>
        </p:blipFill>
        <p:spPr>
          <a:xfrm>
            <a:off x="4501080" y="5371920"/>
            <a:ext cx="3188520" cy="504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nodeType="clickEffect" fill="hold">
                      <p:stCondLst>
                        <p:cond delay="0"/>
                      </p:stCondLst>
                      <p:childTnLst>
                        <p:par>
                          <p:cTn id="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" dur="2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nodeType="afterEffect" fill="hold" presetClass="entr" presetID="10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Imagen 4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92" name="TextBox 12"/>
          <p:cNvSpPr/>
          <p:nvPr/>
        </p:nvSpPr>
        <p:spPr>
          <a:xfrm>
            <a:off x="786240" y="2424240"/>
            <a:ext cx="950004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Aplicación de escritorio para gestión de finanzas personales.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Registro de ingresos gasto y transferencias.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Organización por cuentas y categorías.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Enfoque simple, intuitivo y local.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3" name="Title 22"/>
          <p:cNvSpPr/>
          <p:nvPr/>
        </p:nvSpPr>
        <p:spPr>
          <a:xfrm>
            <a:off x="685800" y="516960"/>
            <a:ext cx="57520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1.Introducción al tema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94" name="Rectángulo 7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Imagen 4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96" name="TextBox 12"/>
          <p:cNvSpPr/>
          <p:nvPr/>
        </p:nvSpPr>
        <p:spPr>
          <a:xfrm>
            <a:off x="1371600" y="1967760"/>
            <a:ext cx="822888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1800" spc="-1" strike="noStrike">
                <a:solidFill>
                  <a:srgbClr val="134c8f"/>
                </a:solidFill>
                <a:latin typeface="Raleway"/>
                <a:ea typeface="DejaVu Sans"/>
              </a:rPr>
              <a:t>-</a:t>
            </a: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 Facilitar el control de finanzas personales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Ofrecer una herramienta intuitiva y rápida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Organizar la información financiera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Aplicar arquitectura por capas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Desarrollar una aplicación funcional completa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7" name="Title 22"/>
          <p:cNvSpPr/>
          <p:nvPr/>
        </p:nvSpPr>
        <p:spPr>
          <a:xfrm>
            <a:off x="685800" y="516960"/>
            <a:ext cx="57520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2. Objetivos planteados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8" name="Rectángulo 7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Imagen 4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100" name="TextBox 12"/>
          <p:cNvSpPr/>
          <p:nvPr/>
        </p:nvSpPr>
        <p:spPr>
          <a:xfrm>
            <a:off x="457200" y="2057400"/>
            <a:ext cx="469944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Interfaz minimalista y clara.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Panel de resumen financiero.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Navegación por secciones.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1" name="Title 22"/>
          <p:cNvSpPr/>
          <p:nvPr/>
        </p:nvSpPr>
        <p:spPr>
          <a:xfrm>
            <a:off x="685800" y="516960"/>
            <a:ext cx="70408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3. Diseño y funcionalidad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2" name="Rectángulo 7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03" name="" descr=""/>
          <p:cNvPicPr/>
          <p:nvPr/>
        </p:nvPicPr>
        <p:blipFill>
          <a:blip r:embed="rId2"/>
          <a:stretch/>
        </p:blipFill>
        <p:spPr>
          <a:xfrm>
            <a:off x="5463720" y="1371600"/>
            <a:ext cx="6422760" cy="494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Imagen 3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"/>
          <p:cNvSpPr/>
          <p:nvPr/>
        </p:nvSpPr>
        <p:spPr>
          <a:xfrm>
            <a:off x="786240" y="1143000"/>
            <a:ext cx="1087164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Gestión de cuentas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Registro de transacciones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Clasificación por categorías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06" name="Title 1"/>
          <p:cNvSpPr/>
          <p:nvPr/>
        </p:nvSpPr>
        <p:spPr>
          <a:xfrm>
            <a:off x="685800" y="516960"/>
            <a:ext cx="70408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3. Diseño y funcionalidad 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107" name="Rectángulo 1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08" name="" descr=""/>
          <p:cNvPicPr/>
          <p:nvPr/>
        </p:nvPicPr>
        <p:blipFill>
          <a:blip r:embed="rId2"/>
          <a:stretch/>
        </p:blipFill>
        <p:spPr>
          <a:xfrm>
            <a:off x="352440" y="2743200"/>
            <a:ext cx="3761640" cy="3656880"/>
          </a:xfrm>
          <a:prstGeom prst="rect">
            <a:avLst/>
          </a:prstGeom>
          <a:ln w="0">
            <a:noFill/>
          </a:ln>
        </p:spPr>
      </p:pic>
      <p:pic>
        <p:nvPicPr>
          <p:cNvPr id="109" name="" descr=""/>
          <p:cNvPicPr/>
          <p:nvPr/>
        </p:nvPicPr>
        <p:blipFill>
          <a:blip r:embed="rId3"/>
          <a:stretch/>
        </p:blipFill>
        <p:spPr>
          <a:xfrm>
            <a:off x="4343400" y="2743200"/>
            <a:ext cx="3428280" cy="3656880"/>
          </a:xfrm>
          <a:prstGeom prst="rect">
            <a:avLst/>
          </a:prstGeom>
          <a:ln w="0">
            <a:noFill/>
          </a:ln>
        </p:spPr>
      </p:pic>
      <p:pic>
        <p:nvPicPr>
          <p:cNvPr id="110" name="" descr=""/>
          <p:cNvPicPr/>
          <p:nvPr/>
        </p:nvPicPr>
        <p:blipFill>
          <a:blip r:embed="rId4"/>
          <a:stretch/>
        </p:blipFill>
        <p:spPr>
          <a:xfrm>
            <a:off x="8001000" y="2743200"/>
            <a:ext cx="4098960" cy="365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Imagen 4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112" name="Title 22"/>
          <p:cNvSpPr/>
          <p:nvPr/>
        </p:nvSpPr>
        <p:spPr>
          <a:xfrm>
            <a:off x="685800" y="516960"/>
            <a:ext cx="70408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4. Metodología y planificación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13" name="Rectángulo 7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"/>
          <p:cNvSpPr/>
          <p:nvPr/>
        </p:nvSpPr>
        <p:spPr>
          <a:xfrm>
            <a:off x="228600" y="2514600"/>
            <a:ext cx="6887520" cy="182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  <p:pic>
        <p:nvPicPr>
          <p:cNvPr id="115" name="" descr=""/>
          <p:cNvPicPr/>
          <p:nvPr/>
        </p:nvPicPr>
        <p:blipFill>
          <a:blip r:embed="rId2"/>
          <a:stretch/>
        </p:blipFill>
        <p:spPr>
          <a:xfrm>
            <a:off x="7086600" y="1144080"/>
            <a:ext cx="4856040" cy="5027400"/>
          </a:xfrm>
          <a:prstGeom prst="rect">
            <a:avLst/>
          </a:prstGeom>
          <a:ln w="0">
            <a:noFill/>
          </a:ln>
        </p:spPr>
      </p:pic>
      <p:sp>
        <p:nvSpPr>
          <p:cNvPr id="116" name="TextBox 4"/>
          <p:cNvSpPr/>
          <p:nvPr/>
        </p:nvSpPr>
        <p:spPr>
          <a:xfrm>
            <a:off x="228600" y="2198160"/>
            <a:ext cx="8001000" cy="26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Desarrollo incremental.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Separación en capas.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Modelo Entidad-Relación inicial.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Implementación progresiva de funcionalidades.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Registro de transacciones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  <a:ea typeface="DejaVu Sans"/>
              </a:rPr>
              <a:t>- Clasificación por categorías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Imagen 4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118" name="TextBox 12"/>
          <p:cNvSpPr/>
          <p:nvPr/>
        </p:nvSpPr>
        <p:spPr>
          <a:xfrm>
            <a:off x="685800" y="1967760"/>
            <a:ext cx="6171480" cy="32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Arquitectura: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domain → entidades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dao → acceso a datos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db → configuración base de datos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services → lógica de negocio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controllers → interacción con interfaz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9" name="Title 22"/>
          <p:cNvSpPr/>
          <p:nvPr/>
        </p:nvSpPr>
        <p:spPr>
          <a:xfrm>
            <a:off x="685800" y="516960"/>
            <a:ext cx="70408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5. Desarrollo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120" name="Rectángulo 7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1" name="" descr=""/>
          <p:cNvPicPr/>
          <p:nvPr/>
        </p:nvPicPr>
        <p:blipFill>
          <a:blip r:embed="rId2"/>
          <a:stretch/>
        </p:blipFill>
        <p:spPr>
          <a:xfrm>
            <a:off x="7789680" y="516960"/>
            <a:ext cx="2953800" cy="586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Imagen 5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123" name="TextBox 2"/>
          <p:cNvSpPr/>
          <p:nvPr/>
        </p:nvSpPr>
        <p:spPr>
          <a:xfrm>
            <a:off x="685800" y="1460520"/>
            <a:ext cx="525708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Base de datos: 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Tablas: account, category, transaction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Relaciones mediante claves foráneas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Restricciones para integridad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Uso de SQLite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4" name="Title 2"/>
          <p:cNvSpPr/>
          <p:nvPr/>
        </p:nvSpPr>
        <p:spPr>
          <a:xfrm>
            <a:off x="685800" y="516960"/>
            <a:ext cx="70408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5. Desarrollo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125" name="Rectángulo 2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6" name="" descr=""/>
          <p:cNvPicPr/>
          <p:nvPr/>
        </p:nvPicPr>
        <p:blipFill>
          <a:blip r:embed="rId2"/>
          <a:stretch/>
        </p:blipFill>
        <p:spPr>
          <a:xfrm>
            <a:off x="6383160" y="1143000"/>
            <a:ext cx="5503320" cy="5345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Imagen 6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128" name="TextBox 3"/>
          <p:cNvSpPr/>
          <p:nvPr/>
        </p:nvSpPr>
        <p:spPr>
          <a:xfrm>
            <a:off x="1143000" y="2514600"/>
            <a:ext cx="52570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Funcionalidades: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CRUD completo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Validaciones en capa service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Cálculo de balances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Resúmenes financieros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9" name="Title 3"/>
          <p:cNvSpPr/>
          <p:nvPr/>
        </p:nvSpPr>
        <p:spPr>
          <a:xfrm>
            <a:off x="685800" y="516960"/>
            <a:ext cx="70408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5. Desarrollo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130" name="Rectángulo 3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1" name="" descr=""/>
          <p:cNvPicPr/>
          <p:nvPr/>
        </p:nvPicPr>
        <p:blipFill>
          <a:blip r:embed="rId2"/>
          <a:stretch/>
        </p:blipFill>
        <p:spPr>
          <a:xfrm>
            <a:off x="914400" y="1220040"/>
            <a:ext cx="8512920" cy="1293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Imagen 1" descr=""/>
          <p:cNvPicPr/>
          <p:nvPr/>
        </p:nvPicPr>
        <p:blipFill>
          <a:blip r:embed="rId1"/>
          <a:stretch/>
        </p:blipFill>
        <p:spPr>
          <a:xfrm flipH="1">
            <a:off x="1080" y="5207760"/>
            <a:ext cx="12191040" cy="164916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2"/>
          <p:cNvSpPr/>
          <p:nvPr/>
        </p:nvSpPr>
        <p:spPr>
          <a:xfrm>
            <a:off x="2943000" y="1731600"/>
            <a:ext cx="591840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Aplicación funcional y completa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Arquitectura escalable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Mejora de la organización financiera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Posibles mejoras: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Gráficos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Exportación de datos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  <a:ea typeface="DejaVu Sans"/>
              </a:rPr>
              <a:t>- Sincronización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34" name="Title 22"/>
          <p:cNvSpPr/>
          <p:nvPr/>
        </p:nvSpPr>
        <p:spPr>
          <a:xfrm>
            <a:off x="685800" y="516960"/>
            <a:ext cx="842328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  <a:ea typeface="DejaVu Sans"/>
              </a:rPr>
              <a:t>6. Conclusiones y proyección a futuro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135" name="Rectángulo 4"/>
          <p:cNvSpPr/>
          <p:nvPr/>
        </p:nvSpPr>
        <p:spPr>
          <a:xfrm>
            <a:off x="481320" y="496800"/>
            <a:ext cx="151200" cy="101736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753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2023-02-03T13:22:21Z</dcterms:created>
  <dc:creator>Juan Torres Gomez</dc:creator>
  <dc:description/>
  <dc:language>en-US</dc:language>
  <cp:lastModifiedBy/>
  <dcterms:modified xsi:type="dcterms:W3CDTF">2026-04-12T19:19:55Z</dcterms:modified>
  <cp:revision>17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0x010100F69870532C68744184BD33633616FE28</vt:lpwstr>
  </property>
  <property fmtid="{D5CDD505-2E9C-101B-9397-08002B2CF9AE}" pid="3" name="MediaServiceImageTags">
    <vt:lpwstr/>
  </property>
  <property fmtid="{D5CDD505-2E9C-101B-9397-08002B2CF9AE}" pid="4" name="PresentationFormat">
    <vt:lpwstr>Widescreen</vt:lpwstr>
  </property>
  <property fmtid="{D5CDD505-2E9C-101B-9397-08002B2CF9AE}" pid="5" name="Slides">
    <vt:r8>9</vt:r8>
  </property>
</Properties>
</file>