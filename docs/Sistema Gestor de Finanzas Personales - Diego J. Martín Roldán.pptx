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4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5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5003AD-AA6D-4A27-9F2A-F7A852BEF1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9478DF6-235A-44B1-BFE6-E164482ADD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EC71F0-65FD-4F00-B3C0-7004BB56F2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9EC6C7-3976-4A93-AC60-58654F7458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8D1CEB-1873-4619-A13A-8A1841E3EC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04CA57-DBE9-408E-996D-341D3910DA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65DBE2D-9F89-4CDC-AD05-CCA04AA1FB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67A8B5-800F-44FA-9B9A-A6389EDCF6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B2F713-7158-4C2B-801F-61669745AE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EFBB7B-61C8-494B-8660-E5C53B3E0A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7DB2B7-FBE1-4D7B-B6E7-725BAD9696C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027D3C-FB4E-4BFE-AD1B-0E40CBD2B31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E189EAC-00E5-42BD-A239-F80AE8F8DB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E5596E2-31EE-409A-A057-7B0EEAC8E3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A7B0C0F-2717-4885-A4BC-C11727EAB2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F9755CA-374B-4611-B04B-A524ED3840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FD19CD7-5226-4A4C-992E-51FB7A331A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80ADD45-A6F2-42E3-9CA1-6AC1BE58C7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1ED4391-DAEF-4699-9634-3108282B83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57F145F-3185-415D-9E8C-B86C41A498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ECAB6D2-C0FE-43F4-A29D-9B58F652BB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44366D8-DB1B-4827-BA35-2931BCD706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65EB786-291D-417A-8995-1F41404AF52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DE60FBF-43A0-4184-9BED-045CE4F7E31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n 7" descr="Imagen que contiene objeto, luz, reloj, tráfico&#10;&#10;Descripción generada automáticamente"/>
          <p:cNvPicPr/>
          <p:nvPr/>
        </p:nvPicPr>
        <p:blipFill>
          <a:blip r:embed="rId2"/>
          <a:stretch/>
        </p:blipFill>
        <p:spPr>
          <a:xfrm>
            <a:off x="11279880" y="253440"/>
            <a:ext cx="530280" cy="58428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525680" y="2041560"/>
            <a:ext cx="9143280" cy="197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28FEC90-E577-4D4D-ADCA-0C32C284E76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10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n 7" descr="Imagen que contiene objeto, luz, reloj, tráfico&#10;&#10;Descripción generada automáticamente"/>
          <p:cNvPicPr/>
          <p:nvPr/>
        </p:nvPicPr>
        <p:blipFill>
          <a:blip r:embed="rId2"/>
          <a:stretch/>
        </p:blipFill>
        <p:spPr>
          <a:xfrm>
            <a:off x="11279880" y="253440"/>
            <a:ext cx="530280" cy="58428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385B8D-7945-4A46-9DE9-B6590E83F7D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ángulo 5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gradFill rotWithShape="0">
            <a:gsLst>
              <a:gs pos="0">
                <a:srgbClr val="134c90"/>
              </a:gs>
              <a:gs pos="100000">
                <a:srgbClr val="00bbac"/>
              </a:gs>
            </a:gsLst>
            <a:lin ang="18900000"/>
          </a:gradFill>
          <a:ln w="12600">
            <a:solidFill>
              <a:srgbClr val="32549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5" name="Grupo 1"/>
          <p:cNvGrpSpPr/>
          <p:nvPr/>
        </p:nvGrpSpPr>
        <p:grpSpPr>
          <a:xfrm>
            <a:off x="1371600" y="1080000"/>
            <a:ext cx="8152560" cy="1064520"/>
            <a:chOff x="1371600" y="1080000"/>
            <a:chExt cx="8152560" cy="1064520"/>
          </a:xfrm>
        </p:grpSpPr>
        <p:sp>
          <p:nvSpPr>
            <p:cNvPr id="86" name="Rectángulo 18"/>
            <p:cNvSpPr/>
            <p:nvPr/>
          </p:nvSpPr>
          <p:spPr>
            <a:xfrm>
              <a:off x="1371600" y="1143000"/>
              <a:ext cx="107280" cy="476280"/>
            </a:xfrm>
            <a:prstGeom prst="rect">
              <a:avLst/>
            </a:prstGeom>
            <a:solidFill>
              <a:srgbClr val="45b8ac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CuadroTexto 20"/>
            <p:cNvSpPr/>
            <p:nvPr/>
          </p:nvSpPr>
          <p:spPr>
            <a:xfrm>
              <a:off x="1479600" y="1080000"/>
              <a:ext cx="8044560" cy="106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s-ES" sz="3200" spc="-1" strike="noStrike">
                  <a:solidFill>
                    <a:srgbClr val="ffffff"/>
                  </a:solidFill>
                  <a:latin typeface="Raleway SemiBold"/>
                  <a:ea typeface="DejaVu Sans"/>
                </a:rPr>
                <a:t>Sistema de gestión de finanzas personales</a:t>
              </a:r>
              <a:endParaRPr b="0" lang="en-US" sz="3200" spc="-1" strike="noStrike">
                <a:latin typeface="Arial"/>
              </a:endParaRPr>
            </a:p>
          </p:txBody>
        </p:sp>
      </p:grpSp>
      <p:sp>
        <p:nvSpPr>
          <p:cNvPr id="88" name="Title 14"/>
          <p:cNvSpPr/>
          <p:nvPr/>
        </p:nvSpPr>
        <p:spPr>
          <a:xfrm>
            <a:off x="2224440" y="3589200"/>
            <a:ext cx="7742520" cy="13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s-ES" sz="2800" spc="-1" strike="noStrike">
                <a:solidFill>
                  <a:srgbClr val="e7e6e6"/>
                </a:solidFill>
                <a:latin typeface="Addington CF Regular"/>
                <a:ea typeface="Roboto"/>
              </a:rPr>
              <a:t>Diego Jesús Martín Roldán</a:t>
            </a:r>
            <a:endParaRPr b="0" lang="en-US" sz="2800" spc="-1" strike="noStrike">
              <a:latin typeface="Arial"/>
            </a:endParaRPr>
          </a:p>
          <a:p>
            <a:pPr algn="ctr">
              <a:lnSpc>
                <a:spcPct val="90000"/>
              </a:lnSpc>
              <a:buNone/>
            </a:pPr>
            <a:r>
              <a:rPr b="0" lang="es-ES" sz="2800" spc="-1" strike="noStrike">
                <a:solidFill>
                  <a:srgbClr val="e7e6e6"/>
                </a:solidFill>
                <a:latin typeface="Addington CF Regular"/>
                <a:ea typeface="Roboto"/>
              </a:rPr>
              <a:t>Curso 2025-2026</a:t>
            </a:r>
            <a:endParaRPr b="0" lang="en-US" sz="2800" spc="-1" strike="noStrike">
              <a:latin typeface="Arial"/>
            </a:endParaRPr>
          </a:p>
          <a:p>
            <a:pPr algn="ctr">
              <a:lnSpc>
                <a:spcPct val="90000"/>
              </a:lnSpc>
              <a:buNone/>
            </a:pPr>
            <a:r>
              <a:rPr b="0" lang="es-ES" sz="2800" spc="-1" strike="noStrike">
                <a:solidFill>
                  <a:srgbClr val="e7e6e6"/>
                </a:solidFill>
                <a:latin typeface="Addington CF Regular"/>
                <a:ea typeface="Roboto"/>
              </a:rPr>
              <a:t>Desarrollo de Aplicaciones Multiplataforma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9" name="Imagen 13" descr="Imagen que contiene Logotipo&#10;&#10;Descripción generada automáticamente"/>
          <p:cNvPicPr/>
          <p:nvPr/>
        </p:nvPicPr>
        <p:blipFill>
          <a:blip r:embed="rId1"/>
          <a:stretch/>
        </p:blipFill>
        <p:spPr>
          <a:xfrm>
            <a:off x="11264400" y="228600"/>
            <a:ext cx="553680" cy="608760"/>
          </a:xfrm>
          <a:prstGeom prst="rect">
            <a:avLst/>
          </a:prstGeom>
          <a:ln w="0">
            <a:noFill/>
          </a:ln>
        </p:spPr>
      </p:pic>
      <p:pic>
        <p:nvPicPr>
          <p:cNvPr id="90" name="Imagen 2" descr=""/>
          <p:cNvPicPr/>
          <p:nvPr/>
        </p:nvPicPr>
        <p:blipFill>
          <a:blip r:embed="rId2"/>
          <a:srcRect l="0" t="0" r="0" b="40758"/>
          <a:stretch/>
        </p:blipFill>
        <p:spPr>
          <a:xfrm>
            <a:off x="4501080" y="5371920"/>
            <a:ext cx="3188880" cy="504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0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nodeType="afterEffect" fill="hold" presetClass="entr" presetID="1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n 4" descr=""/>
          <p:cNvPicPr/>
          <p:nvPr/>
        </p:nvPicPr>
        <p:blipFill>
          <a:blip r:embed="rId1"/>
          <a:stretch/>
        </p:blipFill>
        <p:spPr>
          <a:xfrm flipH="1">
            <a:off x="720" y="5207760"/>
            <a:ext cx="12191400" cy="1649520"/>
          </a:xfrm>
          <a:prstGeom prst="rect">
            <a:avLst/>
          </a:prstGeom>
          <a:ln w="0">
            <a:noFill/>
          </a:ln>
        </p:spPr>
      </p:pic>
      <p:sp>
        <p:nvSpPr>
          <p:cNvPr id="92" name="TextBox 12"/>
          <p:cNvSpPr/>
          <p:nvPr/>
        </p:nvSpPr>
        <p:spPr>
          <a:xfrm>
            <a:off x="786240" y="2424240"/>
            <a:ext cx="950040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Aplicación de escritorio para gestión de finanzas personales.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Registro de ingresos gasto y transferencias.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Organización por cuentas y categorías.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Enfoque simple, intuitivo y local.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3" name="Title 22"/>
          <p:cNvSpPr/>
          <p:nvPr/>
        </p:nvSpPr>
        <p:spPr>
          <a:xfrm>
            <a:off x="685800" y="516960"/>
            <a:ext cx="575244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3600" spc="-1" strike="noStrike">
                <a:solidFill>
                  <a:srgbClr val="134c8f"/>
                </a:solidFill>
                <a:latin typeface="Raleway SemiBold"/>
                <a:ea typeface="DejaVu Sans"/>
              </a:rPr>
              <a:t>1.Introducción al tema</a:t>
            </a:r>
            <a:br>
              <a:rPr sz="3600"/>
            </a:br>
            <a:endParaRPr b="0" lang="en-US" sz="3600" spc="-1" strike="noStrike">
              <a:latin typeface="Arial"/>
            </a:endParaRPr>
          </a:p>
        </p:txBody>
      </p:sp>
      <p:sp>
        <p:nvSpPr>
          <p:cNvPr id="94" name="Rectángulo 7"/>
          <p:cNvSpPr/>
          <p:nvPr/>
        </p:nvSpPr>
        <p:spPr>
          <a:xfrm>
            <a:off x="481320" y="496800"/>
            <a:ext cx="151560" cy="1017720"/>
          </a:xfrm>
          <a:prstGeom prst="rect">
            <a:avLst/>
          </a:prstGeom>
          <a:solidFill>
            <a:srgbClr val="45b8a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Imagen 4" descr=""/>
          <p:cNvPicPr/>
          <p:nvPr/>
        </p:nvPicPr>
        <p:blipFill>
          <a:blip r:embed="rId1"/>
          <a:stretch/>
        </p:blipFill>
        <p:spPr>
          <a:xfrm flipH="1">
            <a:off x="720" y="5207760"/>
            <a:ext cx="12191400" cy="1649520"/>
          </a:xfrm>
          <a:prstGeom prst="rect">
            <a:avLst/>
          </a:prstGeom>
          <a:ln w="0">
            <a:noFill/>
          </a:ln>
        </p:spPr>
      </p:pic>
      <p:sp>
        <p:nvSpPr>
          <p:cNvPr id="96" name="TextBox 12"/>
          <p:cNvSpPr/>
          <p:nvPr/>
        </p:nvSpPr>
        <p:spPr>
          <a:xfrm>
            <a:off x="1371600" y="1967760"/>
            <a:ext cx="822924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25000"/>
              </a:lnSpc>
              <a:buNone/>
            </a:pPr>
            <a:r>
              <a:rPr b="0" lang="es-ES" sz="1800" spc="-1" strike="noStrike">
                <a:solidFill>
                  <a:srgbClr val="134c8f"/>
                </a:solidFill>
                <a:latin typeface="Raleway"/>
                <a:ea typeface="DejaVu Sans"/>
              </a:rPr>
              <a:t>-</a:t>
            </a: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 Facilitar el control de finanzas personales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Ofrecer una herramienta intuitiva y rápida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Organizar la información financiera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Aplicar arquitectura por capas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Desarrollar una aplicación funcional completa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7" name="Title 22"/>
          <p:cNvSpPr/>
          <p:nvPr/>
        </p:nvSpPr>
        <p:spPr>
          <a:xfrm>
            <a:off x="685800" y="516960"/>
            <a:ext cx="575244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3600" spc="-1" strike="noStrike">
                <a:solidFill>
                  <a:srgbClr val="134c8f"/>
                </a:solidFill>
                <a:latin typeface="Raleway SemiBold"/>
                <a:ea typeface="DejaVu Sans"/>
              </a:rPr>
              <a:t>2. Objetivos planteados 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8" name="Rectángulo 7"/>
          <p:cNvSpPr/>
          <p:nvPr/>
        </p:nvSpPr>
        <p:spPr>
          <a:xfrm>
            <a:off x="481320" y="496800"/>
            <a:ext cx="151560" cy="1017720"/>
          </a:xfrm>
          <a:prstGeom prst="rect">
            <a:avLst/>
          </a:prstGeom>
          <a:solidFill>
            <a:srgbClr val="45b8a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Imagen 4" descr=""/>
          <p:cNvPicPr/>
          <p:nvPr/>
        </p:nvPicPr>
        <p:blipFill>
          <a:blip r:embed="rId1"/>
          <a:stretch/>
        </p:blipFill>
        <p:spPr>
          <a:xfrm flipH="1">
            <a:off x="720" y="5207760"/>
            <a:ext cx="12191400" cy="1649520"/>
          </a:xfrm>
          <a:prstGeom prst="rect">
            <a:avLst/>
          </a:prstGeom>
          <a:ln w="0">
            <a:noFill/>
          </a:ln>
        </p:spPr>
      </p:pic>
      <p:sp>
        <p:nvSpPr>
          <p:cNvPr id="100" name="TextBox 12"/>
          <p:cNvSpPr/>
          <p:nvPr/>
        </p:nvSpPr>
        <p:spPr>
          <a:xfrm>
            <a:off x="457200" y="2057400"/>
            <a:ext cx="469980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Interfaz minimalista y clara.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Panel de resumen financiero.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Navegación por secciones.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1" name="Title 22"/>
          <p:cNvSpPr/>
          <p:nvPr/>
        </p:nvSpPr>
        <p:spPr>
          <a:xfrm>
            <a:off x="685800" y="516960"/>
            <a:ext cx="704124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3600" spc="-1" strike="noStrike">
                <a:solidFill>
                  <a:srgbClr val="134c8f"/>
                </a:solidFill>
                <a:latin typeface="Raleway SemiBold"/>
                <a:ea typeface="DejaVu Sans"/>
              </a:rPr>
              <a:t>3. Diseño y funcionalidad 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2" name="Rectángulo 7"/>
          <p:cNvSpPr/>
          <p:nvPr/>
        </p:nvSpPr>
        <p:spPr>
          <a:xfrm>
            <a:off x="481320" y="496800"/>
            <a:ext cx="151560" cy="1017720"/>
          </a:xfrm>
          <a:prstGeom prst="rect">
            <a:avLst/>
          </a:prstGeom>
          <a:solidFill>
            <a:srgbClr val="45b8a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5463720" y="1371600"/>
            <a:ext cx="6423120" cy="494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n 3" descr=""/>
          <p:cNvPicPr/>
          <p:nvPr/>
        </p:nvPicPr>
        <p:blipFill>
          <a:blip r:embed="rId1"/>
          <a:stretch/>
        </p:blipFill>
        <p:spPr>
          <a:xfrm flipH="1">
            <a:off x="720" y="5207760"/>
            <a:ext cx="12191400" cy="1649520"/>
          </a:xfrm>
          <a:prstGeom prst="rect">
            <a:avLst/>
          </a:prstGeom>
          <a:ln w="0">
            <a:noFill/>
          </a:ln>
        </p:spPr>
      </p:pic>
      <p:sp>
        <p:nvSpPr>
          <p:cNvPr id="105" name="TextBox 1"/>
          <p:cNvSpPr/>
          <p:nvPr/>
        </p:nvSpPr>
        <p:spPr>
          <a:xfrm>
            <a:off x="786240" y="1143000"/>
            <a:ext cx="10872000" cy="13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25000"/>
              </a:lnSpc>
              <a:buNone/>
            </a:pPr>
            <a:r>
              <a:rPr b="0" lang="es-ES" sz="2200" spc="-1" strike="noStrike">
                <a:solidFill>
                  <a:srgbClr val="134c8f"/>
                </a:solidFill>
                <a:latin typeface="Raleway"/>
                <a:ea typeface="DejaVu Sans"/>
              </a:rPr>
              <a:t>- Gestión de cuentas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200" spc="-1" strike="noStrike">
                <a:solidFill>
                  <a:srgbClr val="134c8f"/>
                </a:solidFill>
                <a:latin typeface="Raleway"/>
                <a:ea typeface="DejaVu Sans"/>
              </a:rPr>
              <a:t>- Registro de transacciones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200" spc="-1" strike="noStrike">
                <a:solidFill>
                  <a:srgbClr val="134c8f"/>
                </a:solidFill>
                <a:latin typeface="Raleway"/>
                <a:ea typeface="DejaVu Sans"/>
              </a:rPr>
              <a:t>- Clasificación por categorías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06" name="Title 1"/>
          <p:cNvSpPr/>
          <p:nvPr/>
        </p:nvSpPr>
        <p:spPr>
          <a:xfrm>
            <a:off x="685800" y="516960"/>
            <a:ext cx="704124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3600" spc="-1" strike="noStrike">
                <a:solidFill>
                  <a:srgbClr val="134c8f"/>
                </a:solidFill>
                <a:latin typeface="Raleway SemiBold"/>
                <a:ea typeface="DejaVu Sans"/>
              </a:rPr>
              <a:t>3. Diseño y funcionalidad </a:t>
            </a:r>
            <a:br>
              <a:rPr sz="3600"/>
            </a:br>
            <a:endParaRPr b="0" lang="en-US" sz="3600" spc="-1" strike="noStrike">
              <a:latin typeface="Arial"/>
            </a:endParaRPr>
          </a:p>
        </p:txBody>
      </p:sp>
      <p:sp>
        <p:nvSpPr>
          <p:cNvPr id="107" name="Rectángulo 1"/>
          <p:cNvSpPr/>
          <p:nvPr/>
        </p:nvSpPr>
        <p:spPr>
          <a:xfrm>
            <a:off x="481320" y="496800"/>
            <a:ext cx="151560" cy="1017720"/>
          </a:xfrm>
          <a:prstGeom prst="rect">
            <a:avLst/>
          </a:prstGeom>
          <a:solidFill>
            <a:srgbClr val="45b8a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8" name="" descr=""/>
          <p:cNvPicPr/>
          <p:nvPr/>
        </p:nvPicPr>
        <p:blipFill>
          <a:blip r:embed="rId2"/>
          <a:stretch/>
        </p:blipFill>
        <p:spPr>
          <a:xfrm>
            <a:off x="352440" y="2743200"/>
            <a:ext cx="3762000" cy="3657240"/>
          </a:xfrm>
          <a:prstGeom prst="rect">
            <a:avLst/>
          </a:prstGeom>
          <a:ln w="0">
            <a:noFill/>
          </a:ln>
        </p:spPr>
      </p:pic>
      <p:pic>
        <p:nvPicPr>
          <p:cNvPr id="109" name="" descr=""/>
          <p:cNvPicPr/>
          <p:nvPr/>
        </p:nvPicPr>
        <p:blipFill>
          <a:blip r:embed="rId3"/>
          <a:stretch/>
        </p:blipFill>
        <p:spPr>
          <a:xfrm>
            <a:off x="4343400" y="2743200"/>
            <a:ext cx="3428640" cy="365724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4"/>
          <a:stretch/>
        </p:blipFill>
        <p:spPr>
          <a:xfrm>
            <a:off x="8229600" y="2743200"/>
            <a:ext cx="3515040" cy="365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Imagen 4" descr=""/>
          <p:cNvPicPr/>
          <p:nvPr/>
        </p:nvPicPr>
        <p:blipFill>
          <a:blip r:embed="rId1"/>
          <a:stretch/>
        </p:blipFill>
        <p:spPr>
          <a:xfrm flipH="1">
            <a:off x="720" y="5207760"/>
            <a:ext cx="12191400" cy="1649520"/>
          </a:xfrm>
          <a:prstGeom prst="rect">
            <a:avLst/>
          </a:prstGeom>
          <a:ln w="0">
            <a:noFill/>
          </a:ln>
        </p:spPr>
      </p:pic>
      <p:sp>
        <p:nvSpPr>
          <p:cNvPr id="112" name="Title 22"/>
          <p:cNvSpPr/>
          <p:nvPr/>
        </p:nvSpPr>
        <p:spPr>
          <a:xfrm>
            <a:off x="685800" y="516960"/>
            <a:ext cx="704124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3600" spc="-1" strike="noStrike">
                <a:solidFill>
                  <a:srgbClr val="134c8f"/>
                </a:solidFill>
                <a:latin typeface="Raleway SemiBold"/>
                <a:ea typeface="DejaVu Sans"/>
              </a:rPr>
              <a:t>4. Metodología y planificación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3" name="Rectángulo 7"/>
          <p:cNvSpPr/>
          <p:nvPr/>
        </p:nvSpPr>
        <p:spPr>
          <a:xfrm>
            <a:off x="481320" y="496800"/>
            <a:ext cx="151560" cy="1017720"/>
          </a:xfrm>
          <a:prstGeom prst="rect">
            <a:avLst/>
          </a:prstGeom>
          <a:solidFill>
            <a:srgbClr val="45b8a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228600" y="2514600"/>
            <a:ext cx="6887880" cy="30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latin typeface="Arial"/>
              </a:rPr>
              <a:t>- Desarrollo incremental.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latin typeface="Arial"/>
              </a:rPr>
              <a:t>- Separación en capas.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latin typeface="Arial"/>
              </a:rPr>
              <a:t>- Modelo Entidad-Relación inicial.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latin typeface="Arial"/>
              </a:rPr>
              <a:t>- Implementación progresiva de funcionalidades.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000" spc="-1" strike="noStrike"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2"/>
          <a:stretch/>
        </p:blipFill>
        <p:spPr>
          <a:xfrm>
            <a:off x="7086600" y="1144080"/>
            <a:ext cx="4856400" cy="502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Imagen 4" descr=""/>
          <p:cNvPicPr/>
          <p:nvPr/>
        </p:nvPicPr>
        <p:blipFill>
          <a:blip r:embed="rId1"/>
          <a:stretch/>
        </p:blipFill>
        <p:spPr>
          <a:xfrm flipH="1">
            <a:off x="720" y="5207760"/>
            <a:ext cx="12191400" cy="1649520"/>
          </a:xfrm>
          <a:prstGeom prst="rect">
            <a:avLst/>
          </a:prstGeom>
          <a:ln w="0">
            <a:noFill/>
          </a:ln>
        </p:spPr>
      </p:pic>
      <p:sp>
        <p:nvSpPr>
          <p:cNvPr id="117" name="TextBox 12"/>
          <p:cNvSpPr/>
          <p:nvPr/>
        </p:nvSpPr>
        <p:spPr>
          <a:xfrm>
            <a:off x="685800" y="1967760"/>
            <a:ext cx="6171840" cy="32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Arquitectura: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domain → entidades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dao → acceso a datos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db → configuración base de datos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services → lógica de negocio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controllers → interacción con interfaz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8" name="Title 22"/>
          <p:cNvSpPr/>
          <p:nvPr/>
        </p:nvSpPr>
        <p:spPr>
          <a:xfrm>
            <a:off x="685800" y="516960"/>
            <a:ext cx="704124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3600" spc="-1" strike="noStrike">
                <a:solidFill>
                  <a:srgbClr val="134c8f"/>
                </a:solidFill>
                <a:latin typeface="Raleway SemiBold"/>
                <a:ea typeface="DejaVu Sans"/>
              </a:rPr>
              <a:t>5. Desarrollo</a:t>
            </a:r>
            <a:br>
              <a:rPr sz="3600"/>
            </a:br>
            <a:endParaRPr b="0" lang="en-US" sz="3600" spc="-1" strike="noStrike">
              <a:latin typeface="Arial"/>
            </a:endParaRPr>
          </a:p>
        </p:txBody>
      </p:sp>
      <p:sp>
        <p:nvSpPr>
          <p:cNvPr id="119" name="Rectángulo 7"/>
          <p:cNvSpPr/>
          <p:nvPr/>
        </p:nvSpPr>
        <p:spPr>
          <a:xfrm>
            <a:off x="481320" y="496800"/>
            <a:ext cx="151560" cy="1017720"/>
          </a:xfrm>
          <a:prstGeom prst="rect">
            <a:avLst/>
          </a:prstGeom>
          <a:solidFill>
            <a:srgbClr val="45b8a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0" name="" descr=""/>
          <p:cNvPicPr/>
          <p:nvPr/>
        </p:nvPicPr>
        <p:blipFill>
          <a:blip r:embed="rId2"/>
          <a:stretch/>
        </p:blipFill>
        <p:spPr>
          <a:xfrm>
            <a:off x="7789680" y="516960"/>
            <a:ext cx="2954160" cy="586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Imagen 5" descr=""/>
          <p:cNvPicPr/>
          <p:nvPr/>
        </p:nvPicPr>
        <p:blipFill>
          <a:blip r:embed="rId1"/>
          <a:stretch/>
        </p:blipFill>
        <p:spPr>
          <a:xfrm flipH="1">
            <a:off x="720" y="5207760"/>
            <a:ext cx="12191400" cy="1649520"/>
          </a:xfrm>
          <a:prstGeom prst="rect">
            <a:avLst/>
          </a:prstGeom>
          <a:ln w="0">
            <a:noFill/>
          </a:ln>
        </p:spPr>
      </p:pic>
      <p:sp>
        <p:nvSpPr>
          <p:cNvPr id="122" name="TextBox 2"/>
          <p:cNvSpPr/>
          <p:nvPr/>
        </p:nvSpPr>
        <p:spPr>
          <a:xfrm>
            <a:off x="685800" y="1460520"/>
            <a:ext cx="525744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Base de datos: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Tablas: account, category, transaction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Relaciones mediante claves foráneas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Restricciones para integridad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Uso de SQLite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3" name="Title 2"/>
          <p:cNvSpPr/>
          <p:nvPr/>
        </p:nvSpPr>
        <p:spPr>
          <a:xfrm>
            <a:off x="685800" y="516960"/>
            <a:ext cx="704124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3600" spc="-1" strike="noStrike">
                <a:solidFill>
                  <a:srgbClr val="134c8f"/>
                </a:solidFill>
                <a:latin typeface="Raleway SemiBold"/>
                <a:ea typeface="DejaVu Sans"/>
              </a:rPr>
              <a:t>5. Desarrollo</a:t>
            </a:r>
            <a:br>
              <a:rPr sz="3600"/>
            </a:br>
            <a:endParaRPr b="0" lang="en-US" sz="3600" spc="-1" strike="noStrike">
              <a:latin typeface="Arial"/>
            </a:endParaRPr>
          </a:p>
        </p:txBody>
      </p:sp>
      <p:sp>
        <p:nvSpPr>
          <p:cNvPr id="124" name="Rectángulo 2"/>
          <p:cNvSpPr/>
          <p:nvPr/>
        </p:nvSpPr>
        <p:spPr>
          <a:xfrm>
            <a:off x="481320" y="496800"/>
            <a:ext cx="151560" cy="1017720"/>
          </a:xfrm>
          <a:prstGeom prst="rect">
            <a:avLst/>
          </a:prstGeom>
          <a:solidFill>
            <a:srgbClr val="45b8a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5" name="" descr=""/>
          <p:cNvPicPr/>
          <p:nvPr/>
        </p:nvPicPr>
        <p:blipFill>
          <a:blip r:embed="rId2"/>
          <a:stretch/>
        </p:blipFill>
        <p:spPr>
          <a:xfrm>
            <a:off x="6383160" y="1143000"/>
            <a:ext cx="5503680" cy="534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n 6" descr=""/>
          <p:cNvPicPr/>
          <p:nvPr/>
        </p:nvPicPr>
        <p:blipFill>
          <a:blip r:embed="rId1"/>
          <a:stretch/>
        </p:blipFill>
        <p:spPr>
          <a:xfrm flipH="1">
            <a:off x="720" y="5207760"/>
            <a:ext cx="12191400" cy="1649520"/>
          </a:xfrm>
          <a:prstGeom prst="rect">
            <a:avLst/>
          </a:prstGeom>
          <a:ln w="0">
            <a:noFill/>
          </a:ln>
        </p:spPr>
      </p:pic>
      <p:sp>
        <p:nvSpPr>
          <p:cNvPr id="127" name="TextBox 3"/>
          <p:cNvSpPr/>
          <p:nvPr/>
        </p:nvSpPr>
        <p:spPr>
          <a:xfrm>
            <a:off x="1143000" y="2514600"/>
            <a:ext cx="525744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Funcionalidades: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CRUD completo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Validaciones en capa service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Cálculo de balances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Resúmenes financieros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8" name="Title 3"/>
          <p:cNvSpPr/>
          <p:nvPr/>
        </p:nvSpPr>
        <p:spPr>
          <a:xfrm>
            <a:off x="685800" y="516960"/>
            <a:ext cx="704124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3600" spc="-1" strike="noStrike">
                <a:solidFill>
                  <a:srgbClr val="134c8f"/>
                </a:solidFill>
                <a:latin typeface="Raleway SemiBold"/>
                <a:ea typeface="DejaVu Sans"/>
              </a:rPr>
              <a:t>5. Desarrollo</a:t>
            </a:r>
            <a:br>
              <a:rPr sz="3600"/>
            </a:br>
            <a:endParaRPr b="0" lang="en-US" sz="3600" spc="-1" strike="noStrike">
              <a:latin typeface="Arial"/>
            </a:endParaRPr>
          </a:p>
        </p:txBody>
      </p:sp>
      <p:sp>
        <p:nvSpPr>
          <p:cNvPr id="129" name="Rectángulo 3"/>
          <p:cNvSpPr/>
          <p:nvPr/>
        </p:nvSpPr>
        <p:spPr>
          <a:xfrm>
            <a:off x="481320" y="496800"/>
            <a:ext cx="151560" cy="1017720"/>
          </a:xfrm>
          <a:prstGeom prst="rect">
            <a:avLst/>
          </a:prstGeom>
          <a:solidFill>
            <a:srgbClr val="45b8a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0" name="" descr=""/>
          <p:cNvPicPr/>
          <p:nvPr/>
        </p:nvPicPr>
        <p:blipFill>
          <a:blip r:embed="rId2"/>
          <a:stretch/>
        </p:blipFill>
        <p:spPr>
          <a:xfrm>
            <a:off x="914400" y="1220040"/>
            <a:ext cx="8513280" cy="129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Imagen 1" descr=""/>
          <p:cNvPicPr/>
          <p:nvPr/>
        </p:nvPicPr>
        <p:blipFill>
          <a:blip r:embed="rId1"/>
          <a:stretch/>
        </p:blipFill>
        <p:spPr>
          <a:xfrm flipH="1">
            <a:off x="720" y="5207760"/>
            <a:ext cx="12191400" cy="1649520"/>
          </a:xfrm>
          <a:prstGeom prst="rect">
            <a:avLst/>
          </a:prstGeom>
          <a:ln w="0">
            <a:noFill/>
          </a:ln>
        </p:spPr>
      </p:pic>
      <p:sp>
        <p:nvSpPr>
          <p:cNvPr id="132" name="TextBox 12"/>
          <p:cNvSpPr/>
          <p:nvPr/>
        </p:nvSpPr>
        <p:spPr>
          <a:xfrm>
            <a:off x="2943000" y="1731600"/>
            <a:ext cx="591876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Aplicación funcional y completa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Arquitectura escalable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Mejora de la organización financiera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Posibles mejoras: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Gráficos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Exportación de datos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</a:pPr>
            <a:r>
              <a:rPr b="0" lang="es-ES" sz="2400" spc="-1" strike="noStrike">
                <a:solidFill>
                  <a:srgbClr val="134c8f"/>
                </a:solidFill>
                <a:latin typeface="Raleway"/>
                <a:ea typeface="DejaVu Sans"/>
              </a:rPr>
              <a:t>- Sincronización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3" name="Title 22"/>
          <p:cNvSpPr/>
          <p:nvPr/>
        </p:nvSpPr>
        <p:spPr>
          <a:xfrm>
            <a:off x="685800" y="516960"/>
            <a:ext cx="8423640" cy="10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3600" spc="-1" strike="noStrike">
                <a:solidFill>
                  <a:srgbClr val="134c8f"/>
                </a:solidFill>
                <a:latin typeface="Raleway SemiBold"/>
                <a:ea typeface="DejaVu Sans"/>
              </a:rPr>
              <a:t>6. Conclusiones y proyección a futuro</a:t>
            </a:r>
            <a:br>
              <a:rPr sz="3600"/>
            </a:br>
            <a:endParaRPr b="0" lang="en-US" sz="3600" spc="-1" strike="noStrike">
              <a:latin typeface="Arial"/>
            </a:endParaRPr>
          </a:p>
        </p:txBody>
      </p:sp>
      <p:sp>
        <p:nvSpPr>
          <p:cNvPr id="134" name="Rectángulo 4"/>
          <p:cNvSpPr/>
          <p:nvPr/>
        </p:nvSpPr>
        <p:spPr>
          <a:xfrm>
            <a:off x="481320" y="496800"/>
            <a:ext cx="151560" cy="1017720"/>
          </a:xfrm>
          <a:prstGeom prst="rect">
            <a:avLst/>
          </a:prstGeom>
          <a:solidFill>
            <a:srgbClr val="45b8ac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2023-02-03T13:22:21Z</dcterms:created>
  <dc:creator>Juan Torres Gomez</dc:creator>
  <dc:description/>
  <dc:language>en-US</dc:language>
  <cp:lastModifiedBy/>
  <dcterms:modified xsi:type="dcterms:W3CDTF">2026-04-12T19:08:10Z</dcterms:modified>
  <cp:revision>15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0x010100F69870532C68744184BD33633616FE28</vt:lpwstr>
  </property>
  <property fmtid="{D5CDD505-2E9C-101B-9397-08002B2CF9AE}" pid="3" name="MediaServiceImageTags">
    <vt:lpwstr/>
  </property>
  <property fmtid="{D5CDD505-2E9C-101B-9397-08002B2CF9AE}" pid="4" name="PresentationFormat">
    <vt:lpwstr>Widescreen</vt:lpwstr>
  </property>
  <property fmtid="{D5CDD505-2E9C-101B-9397-08002B2CF9AE}" pid="5" name="Slides">
    <vt:r8>9</vt:r8>
  </property>
</Properties>
</file>