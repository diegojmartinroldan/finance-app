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10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0F090D-3568-41E1-937B-C953769B59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FFBFE2-3BBC-4719-ACC5-E0D5912ACD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CEE903F-F1CB-4E4F-9C4C-44C38FBBD5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0" y="0"/>
            <a:ext cx="5949360" cy="685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6247080" y="0"/>
            <a:ext cx="5949360" cy="685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ED619C-BE3F-4611-BD11-BD639CB3B5B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A01A1E-E8CF-4175-9956-A082E9E06B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1525680" y="2041560"/>
            <a:ext cx="9143640" cy="915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5F0F0F-6261-4B6F-8B96-41E7F2180C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0" y="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47080" y="0"/>
            <a:ext cx="5949360" cy="685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0" y="358200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4A60111-ED4A-40FC-9849-E1B4D3740D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0" y="0"/>
            <a:ext cx="5949360" cy="685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47080" y="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247080" y="358200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01D4856-46E7-4D2A-B10C-A73C826A00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0" y="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47080" y="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0" y="3582000"/>
            <a:ext cx="121917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982A27F-E711-4B57-B1A4-E97F9F2CFA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0" y="0"/>
            <a:ext cx="121917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0" y="3582000"/>
            <a:ext cx="121917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140DE18-07FA-4044-9F33-6D39A9E4C1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0" y="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47080" y="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0" y="358200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6247080" y="3582000"/>
            <a:ext cx="594936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2A7B83D-CA2E-4BF8-94C2-A0056BB97E0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0" y="0"/>
            <a:ext cx="392544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122000" y="0"/>
            <a:ext cx="392544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8244360" y="0"/>
            <a:ext cx="392544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0" y="3582000"/>
            <a:ext cx="392544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4122000" y="3582000"/>
            <a:ext cx="392544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8244360" y="3582000"/>
            <a:ext cx="3925440" cy="32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661881C-076D-447A-AB32-5E064457A0F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8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s-ES" sz="28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8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1525680" y="2041560"/>
            <a:ext cx="9143640" cy="1975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11500" spc="-1" strike="noStrike">
                <a:solidFill>
                  <a:srgbClr val="e7e6e6"/>
                </a:solidFill>
                <a:latin typeface="Calibri Light"/>
              </a:rPr>
              <a:t>Click to edit</a:t>
            </a:r>
            <a:endParaRPr b="0" lang="es-ES" sz="115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437BFC3-74DC-4B30-8E3A-EFAA4D388DD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pic>
        <p:nvPicPr>
          <p:cNvPr id="5" name="Imagen 7" descr="Imagen que contiene objeto, luz, reloj, tráfico&#10;&#10;Descripción generada automáticamente"/>
          <p:cNvPicPr/>
          <p:nvPr/>
        </p:nvPicPr>
        <p:blipFill>
          <a:blip r:embed="rId2"/>
          <a:stretch/>
        </p:blipFill>
        <p:spPr>
          <a:xfrm>
            <a:off x="11279880" y="253440"/>
            <a:ext cx="530640" cy="58464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ángulo 5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34c90"/>
              </a:gs>
              <a:gs pos="100000">
                <a:srgbClr val="00bbac"/>
              </a:gs>
            </a:gsLst>
            <a:lin ang="18900000"/>
          </a:gradFill>
          <a:ln w="12600">
            <a:solidFill>
              <a:srgbClr val="325490"/>
            </a:solidFill>
            <a:miter/>
          </a:ln>
        </p:spPr>
        <p:style>
          <a:lnRef idx="0"/>
          <a:fillRef idx="0"/>
          <a:effectRef idx="0"/>
          <a:fontRef idx="minor"/>
        </p:style>
      </p:sp>
      <p:grpSp>
        <p:nvGrpSpPr>
          <p:cNvPr id="43" name="Grupo 1"/>
          <p:cNvGrpSpPr/>
          <p:nvPr/>
        </p:nvGrpSpPr>
        <p:grpSpPr>
          <a:xfrm>
            <a:off x="1371600" y="1080000"/>
            <a:ext cx="8152920" cy="1065960"/>
            <a:chOff x="1371600" y="1080000"/>
            <a:chExt cx="8152920" cy="1065960"/>
          </a:xfrm>
        </p:grpSpPr>
        <p:sp>
          <p:nvSpPr>
            <p:cNvPr id="44" name="Rectángulo 18"/>
            <p:cNvSpPr/>
            <p:nvPr/>
          </p:nvSpPr>
          <p:spPr>
            <a:xfrm>
              <a:off x="1371600" y="1143000"/>
              <a:ext cx="107640" cy="476640"/>
            </a:xfrm>
            <a:prstGeom prst="rect">
              <a:avLst/>
            </a:prstGeom>
            <a:solidFill>
              <a:srgbClr val="45b8ac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5" name="CuadroTexto 20"/>
            <p:cNvSpPr/>
            <p:nvPr/>
          </p:nvSpPr>
          <p:spPr>
            <a:xfrm>
              <a:off x="1479600" y="1080000"/>
              <a:ext cx="8044920" cy="10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s-ES" sz="3200" spc="-1" strike="noStrike">
                  <a:solidFill>
                    <a:srgbClr val="ffffff"/>
                  </a:solidFill>
                  <a:latin typeface="Raleway SemiBold"/>
                </a:rPr>
                <a:t>Sistema de gestión de finanzas personales</a:t>
              </a:r>
              <a:endParaRPr b="0" lang="en-US" sz="3200" spc="-1" strike="noStrike">
                <a:latin typeface="Arial"/>
              </a:endParaRPr>
            </a:p>
          </p:txBody>
        </p:sp>
      </p:grpSp>
      <p:sp>
        <p:nvSpPr>
          <p:cNvPr id="46" name="Title 14"/>
          <p:cNvSpPr/>
          <p:nvPr/>
        </p:nvSpPr>
        <p:spPr>
          <a:xfrm>
            <a:off x="2224440" y="3589200"/>
            <a:ext cx="7742880" cy="13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s-ES" sz="2800" spc="-1" strike="noStrike">
                <a:solidFill>
                  <a:srgbClr val="e7e6e6"/>
                </a:solidFill>
                <a:latin typeface="Addington CF Regular"/>
                <a:ea typeface="Roboto"/>
              </a:rPr>
              <a:t>Diego Jesús Martín Roldán</a:t>
            </a:r>
            <a:endParaRPr b="0" lang="en-US" sz="2800" spc="-1" strike="noStrike">
              <a:latin typeface="Arial"/>
            </a:endParaRPr>
          </a:p>
          <a:p>
            <a:pPr algn="ctr">
              <a:lnSpc>
                <a:spcPct val="90000"/>
              </a:lnSpc>
              <a:buNone/>
            </a:pPr>
            <a:r>
              <a:rPr b="0" lang="es-ES" sz="2800" spc="-1" strike="noStrike">
                <a:solidFill>
                  <a:srgbClr val="e7e6e6"/>
                </a:solidFill>
                <a:latin typeface="Addington CF Regular"/>
                <a:ea typeface="Roboto"/>
              </a:rPr>
              <a:t>Curso 2025-2026</a:t>
            </a:r>
            <a:endParaRPr b="0" lang="en-US" sz="2800" spc="-1" strike="noStrike">
              <a:latin typeface="Arial"/>
            </a:endParaRPr>
          </a:p>
          <a:p>
            <a:pPr algn="ctr">
              <a:lnSpc>
                <a:spcPct val="90000"/>
              </a:lnSpc>
              <a:buNone/>
            </a:pPr>
            <a:r>
              <a:rPr b="0" lang="es-ES" sz="2800" spc="-1" strike="noStrike">
                <a:solidFill>
                  <a:srgbClr val="e7e6e6"/>
                </a:solidFill>
                <a:latin typeface="Addington CF Regular"/>
                <a:ea typeface="Roboto"/>
              </a:rPr>
              <a:t>Desarrollo de Aplicaciones Multiplataforma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47" name="Imagen 13" descr="Imagen que contiene Logotipo&#10;&#10;Descripción generada automáticamente"/>
          <p:cNvPicPr/>
          <p:nvPr/>
        </p:nvPicPr>
        <p:blipFill>
          <a:blip r:embed="rId1"/>
          <a:stretch/>
        </p:blipFill>
        <p:spPr>
          <a:xfrm>
            <a:off x="11264400" y="228600"/>
            <a:ext cx="554040" cy="609120"/>
          </a:xfrm>
          <a:prstGeom prst="rect">
            <a:avLst/>
          </a:prstGeom>
          <a:ln w="0">
            <a:noFill/>
          </a:ln>
        </p:spPr>
      </p:pic>
      <p:pic>
        <p:nvPicPr>
          <p:cNvPr id="48" name="Imagen 2" descr=""/>
          <p:cNvPicPr/>
          <p:nvPr/>
        </p:nvPicPr>
        <p:blipFill>
          <a:blip r:embed="rId2"/>
          <a:srcRect l="0" t="0" r="0" b="40758"/>
          <a:stretch/>
        </p:blipFill>
        <p:spPr>
          <a:xfrm>
            <a:off x="4501080" y="5371920"/>
            <a:ext cx="3189240" cy="505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nodeType="clickEffect" fill="hold">
                      <p:stCondLst>
                        <p:cond delay="0"/>
                      </p:stCondLst>
                      <p:childTnLst>
                        <p:par>
                          <p:cTn id="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nodeType="afterEffect" fill="hold" presetClass="entr" presetID="10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Imagen 4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50" name="TextBox 12"/>
          <p:cNvSpPr/>
          <p:nvPr/>
        </p:nvSpPr>
        <p:spPr>
          <a:xfrm>
            <a:off x="786240" y="2424240"/>
            <a:ext cx="9500760" cy="23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Aplicación de escritorio para gestión de finanzas personales.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Registro de ingresos gasto y transferencias.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Organización por cuentas y categorías.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Enfoque simple, intuitivo y local.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1" name="Title 22"/>
          <p:cNvSpPr/>
          <p:nvPr/>
        </p:nvSpPr>
        <p:spPr>
          <a:xfrm>
            <a:off x="685800" y="516960"/>
            <a:ext cx="57528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1.Introducción al tema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52" name="Rectángulo 7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n 4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54" name="TextBox 12"/>
          <p:cNvSpPr/>
          <p:nvPr/>
        </p:nvSpPr>
        <p:spPr>
          <a:xfrm>
            <a:off x="1143000" y="2514600"/>
            <a:ext cx="822960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1800" spc="-1" strike="noStrike">
                <a:solidFill>
                  <a:srgbClr val="134c8f"/>
                </a:solidFill>
                <a:latin typeface="Raleway"/>
              </a:rPr>
              <a:t>-</a:t>
            </a: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 Facilitar el control de finanzas personales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Ofrecer una herramienta intuitiva y rápida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Organizar la información financiera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Aplicar arquitectura por capas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Desarrollar una aplicación funcional completa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5" name="Title 22"/>
          <p:cNvSpPr/>
          <p:nvPr/>
        </p:nvSpPr>
        <p:spPr>
          <a:xfrm>
            <a:off x="685800" y="516960"/>
            <a:ext cx="57528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2. Objetivos planteados </a:t>
            </a:r>
            <a:br>
              <a:rPr sz="3600"/>
            </a:b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(una diapositiva)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6" name="Rectángulo 7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Imagen 4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58" name="TextBox 12"/>
          <p:cNvSpPr/>
          <p:nvPr/>
        </p:nvSpPr>
        <p:spPr>
          <a:xfrm>
            <a:off x="457200" y="2057400"/>
            <a:ext cx="470016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Interfaz minimalista y clara.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Panel de resumen financiero.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Navegación por secciones.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9" name="Title 22"/>
          <p:cNvSpPr/>
          <p:nvPr/>
        </p:nvSpPr>
        <p:spPr>
          <a:xfrm>
            <a:off x="685800" y="516960"/>
            <a:ext cx="70416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3. Diseño y funcionalidad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0" name="Rectángulo 7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61" name="" descr=""/>
          <p:cNvPicPr/>
          <p:nvPr/>
        </p:nvPicPr>
        <p:blipFill>
          <a:blip r:embed="rId2"/>
          <a:stretch/>
        </p:blipFill>
        <p:spPr>
          <a:xfrm>
            <a:off x="5463720" y="1371600"/>
            <a:ext cx="6423480" cy="494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Imagen 3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63" name="TextBox 1"/>
          <p:cNvSpPr/>
          <p:nvPr/>
        </p:nvSpPr>
        <p:spPr>
          <a:xfrm>
            <a:off x="786240" y="1143000"/>
            <a:ext cx="108723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</a:rPr>
              <a:t>- Gestión de cuentas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</a:rPr>
              <a:t>- Registro de transacciones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200" spc="-1" strike="noStrike">
                <a:solidFill>
                  <a:srgbClr val="134c8f"/>
                </a:solidFill>
                <a:latin typeface="Raleway"/>
              </a:rPr>
              <a:t>- Clasificación por categorías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4" name="Title 1"/>
          <p:cNvSpPr/>
          <p:nvPr/>
        </p:nvSpPr>
        <p:spPr>
          <a:xfrm>
            <a:off x="685800" y="516960"/>
            <a:ext cx="70416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3. Diseño y funcionalidad 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65" name="Rectángulo 1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" descr=""/>
          <p:cNvPicPr/>
          <p:nvPr/>
        </p:nvPicPr>
        <p:blipFill>
          <a:blip r:embed="rId2"/>
          <a:stretch/>
        </p:blipFill>
        <p:spPr>
          <a:xfrm>
            <a:off x="352440" y="2743200"/>
            <a:ext cx="3762360" cy="3657600"/>
          </a:xfrm>
          <a:prstGeom prst="rect">
            <a:avLst/>
          </a:prstGeom>
          <a:ln w="0">
            <a:noFill/>
          </a:ln>
        </p:spPr>
      </p:pic>
      <p:pic>
        <p:nvPicPr>
          <p:cNvPr id="67" name="" descr=""/>
          <p:cNvPicPr/>
          <p:nvPr/>
        </p:nvPicPr>
        <p:blipFill>
          <a:blip r:embed="rId3"/>
          <a:stretch/>
        </p:blipFill>
        <p:spPr>
          <a:xfrm>
            <a:off x="4343400" y="2743200"/>
            <a:ext cx="3429000" cy="3657600"/>
          </a:xfrm>
          <a:prstGeom prst="rect">
            <a:avLst/>
          </a:prstGeom>
          <a:ln w="0">
            <a:noFill/>
          </a:ln>
        </p:spPr>
      </p:pic>
      <p:pic>
        <p:nvPicPr>
          <p:cNvPr id="68" name="" descr=""/>
          <p:cNvPicPr/>
          <p:nvPr/>
        </p:nvPicPr>
        <p:blipFill>
          <a:blip r:embed="rId4"/>
          <a:stretch/>
        </p:blipFill>
        <p:spPr>
          <a:xfrm>
            <a:off x="8229600" y="2743200"/>
            <a:ext cx="3515400" cy="365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n 4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70" name="Title 22"/>
          <p:cNvSpPr/>
          <p:nvPr/>
        </p:nvSpPr>
        <p:spPr>
          <a:xfrm>
            <a:off x="685800" y="516960"/>
            <a:ext cx="70416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4. Metodología y planificación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71" name="Rectángulo 7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"/>
          <p:cNvSpPr txBox="1"/>
          <p:nvPr/>
        </p:nvSpPr>
        <p:spPr>
          <a:xfrm>
            <a:off x="228600" y="2514600"/>
            <a:ext cx="6888240" cy="304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400" spc="-1" strike="noStrike">
                <a:latin typeface="Arial"/>
              </a:rPr>
              <a:t>- Desarrollo incremental. </a:t>
            </a:r>
            <a:endParaRPr b="0" lang="en-US" sz="2400" spc="-1" strike="noStrike">
              <a:latin typeface="Arial"/>
            </a:endParaRPr>
          </a:p>
          <a:p>
            <a:r>
              <a:rPr b="0" lang="en-US" sz="2400" spc="-1" strike="noStrike">
                <a:latin typeface="Arial"/>
              </a:rPr>
              <a:t>- Separación en capas.</a:t>
            </a:r>
            <a:endParaRPr b="0" lang="en-US" sz="2400" spc="-1" strike="noStrike">
              <a:latin typeface="Arial"/>
            </a:endParaRPr>
          </a:p>
          <a:p>
            <a:r>
              <a:rPr b="0" lang="en-US" sz="2400" spc="-1" strike="noStrike">
                <a:latin typeface="Arial"/>
              </a:rPr>
              <a:t>- Modelo Entidad-Relación inicial.</a:t>
            </a:r>
            <a:endParaRPr b="0" lang="en-US" sz="2400" spc="-1" strike="noStrike">
              <a:latin typeface="Arial"/>
            </a:endParaRPr>
          </a:p>
          <a:p>
            <a:r>
              <a:rPr b="0" lang="en-US" sz="2400" spc="-1" strike="noStrike">
                <a:latin typeface="Arial"/>
              </a:rPr>
              <a:t>- Implementación progresiva de funcionalidades.</a:t>
            </a:r>
            <a:endParaRPr b="0" lang="en-US" sz="2400" spc="-1" strike="noStrike">
              <a:latin typeface="Arial"/>
            </a:endParaRPr>
          </a:p>
          <a:p>
            <a:endParaRPr b="0" lang="en-US" sz="1000" spc="-1" strike="noStrike">
              <a:latin typeface="Arial"/>
            </a:endParaRPr>
          </a:p>
        </p:txBody>
      </p:sp>
      <p:pic>
        <p:nvPicPr>
          <p:cNvPr id="73" name="" descr=""/>
          <p:cNvPicPr/>
          <p:nvPr/>
        </p:nvPicPr>
        <p:blipFill>
          <a:blip r:embed="rId2"/>
          <a:stretch/>
        </p:blipFill>
        <p:spPr>
          <a:xfrm>
            <a:off x="7086600" y="1144080"/>
            <a:ext cx="4856760" cy="5028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Imagen 4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75" name="TextBox 12"/>
          <p:cNvSpPr/>
          <p:nvPr/>
        </p:nvSpPr>
        <p:spPr>
          <a:xfrm>
            <a:off x="685800" y="1967760"/>
            <a:ext cx="6172200" cy="32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Arquitectura: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domain → entidades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dao → acceso a datos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db → configuración base de datos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services → lógica de negocio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controllers → interacción con interfaz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6" name="Title 22"/>
          <p:cNvSpPr/>
          <p:nvPr/>
        </p:nvSpPr>
        <p:spPr>
          <a:xfrm>
            <a:off x="685800" y="516960"/>
            <a:ext cx="70416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5. Desarrollo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77" name="Rectángulo 7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8" name="" descr=""/>
          <p:cNvPicPr/>
          <p:nvPr/>
        </p:nvPicPr>
        <p:blipFill>
          <a:blip r:embed="rId2"/>
          <a:stretch/>
        </p:blipFill>
        <p:spPr>
          <a:xfrm>
            <a:off x="7789680" y="516960"/>
            <a:ext cx="2954520" cy="586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Imagen 5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80" name="TextBox 2"/>
          <p:cNvSpPr/>
          <p:nvPr/>
        </p:nvSpPr>
        <p:spPr>
          <a:xfrm>
            <a:off x="685800" y="1460520"/>
            <a:ext cx="525780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Base de datos: 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Tablas: account, category, transaction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Relaciones mediante claves foráneas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Restricciones para integridad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Uso de SQLite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1" name="Title 2"/>
          <p:cNvSpPr/>
          <p:nvPr/>
        </p:nvSpPr>
        <p:spPr>
          <a:xfrm>
            <a:off x="685800" y="516960"/>
            <a:ext cx="70416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5. Desarrollo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82" name="Rectángulo 2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83" name="" descr=""/>
          <p:cNvPicPr/>
          <p:nvPr/>
        </p:nvPicPr>
        <p:blipFill>
          <a:blip r:embed="rId2"/>
          <a:stretch/>
        </p:blipFill>
        <p:spPr>
          <a:xfrm>
            <a:off x="6383160" y="1143000"/>
            <a:ext cx="5504040" cy="5346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Imagen 6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85" name="TextBox 3"/>
          <p:cNvSpPr/>
          <p:nvPr/>
        </p:nvSpPr>
        <p:spPr>
          <a:xfrm>
            <a:off x="1143000" y="2514600"/>
            <a:ext cx="525780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Funcionalidades: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CRUD completo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Validaciones en capa service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Cálculo de balances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Resúmenes financieros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6" name="Title 3"/>
          <p:cNvSpPr/>
          <p:nvPr/>
        </p:nvSpPr>
        <p:spPr>
          <a:xfrm>
            <a:off x="685800" y="516960"/>
            <a:ext cx="70416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5. Desarrollo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87" name="Rectángulo 3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88" name="" descr=""/>
          <p:cNvPicPr/>
          <p:nvPr/>
        </p:nvPicPr>
        <p:blipFill>
          <a:blip r:embed="rId2"/>
          <a:stretch/>
        </p:blipFill>
        <p:spPr>
          <a:xfrm>
            <a:off x="914400" y="1220040"/>
            <a:ext cx="8513640" cy="129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Imagen 1" descr=""/>
          <p:cNvPicPr/>
          <p:nvPr/>
        </p:nvPicPr>
        <p:blipFill>
          <a:blip r:embed="rId1"/>
          <a:stretch/>
        </p:blipFill>
        <p:spPr>
          <a:xfrm flipH="1">
            <a:off x="360" y="5207760"/>
            <a:ext cx="12191760" cy="1649880"/>
          </a:xfrm>
          <a:prstGeom prst="rect">
            <a:avLst/>
          </a:prstGeom>
          <a:ln w="0">
            <a:noFill/>
          </a:ln>
        </p:spPr>
      </p:pic>
      <p:sp>
        <p:nvSpPr>
          <p:cNvPr id="90" name="TextBox 12"/>
          <p:cNvSpPr/>
          <p:nvPr/>
        </p:nvSpPr>
        <p:spPr>
          <a:xfrm>
            <a:off x="2943000" y="1731600"/>
            <a:ext cx="591912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Aplicación funcional y completa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Arquitectura escalable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Mejora de la organización financiera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Posibles mejoras: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Gráficos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Exportación de datos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</a:pPr>
            <a:r>
              <a:rPr b="0" lang="es-ES" sz="2400" spc="-1" strike="noStrike">
                <a:solidFill>
                  <a:srgbClr val="134c8f"/>
                </a:solidFill>
                <a:latin typeface="Raleway"/>
              </a:rPr>
              <a:t>- Sincronización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1" name="Title 22"/>
          <p:cNvSpPr/>
          <p:nvPr/>
        </p:nvSpPr>
        <p:spPr>
          <a:xfrm>
            <a:off x="685800" y="516960"/>
            <a:ext cx="8424000" cy="10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3600" spc="-1" strike="noStrike">
                <a:solidFill>
                  <a:srgbClr val="134c8f"/>
                </a:solidFill>
                <a:latin typeface="Raleway SemiBold"/>
              </a:rPr>
              <a:t>6. Conclusiones y proyección a futuro</a:t>
            </a:r>
            <a:br>
              <a:rPr sz="3600"/>
            </a:br>
            <a:endParaRPr b="0" lang="en-US" sz="3600" spc="-1" strike="noStrike">
              <a:latin typeface="Arial"/>
            </a:endParaRPr>
          </a:p>
        </p:txBody>
      </p:sp>
      <p:sp>
        <p:nvSpPr>
          <p:cNvPr id="92" name="Rectángulo 4"/>
          <p:cNvSpPr/>
          <p:nvPr/>
        </p:nvSpPr>
        <p:spPr>
          <a:xfrm>
            <a:off x="481320" y="496800"/>
            <a:ext cx="151920" cy="1018080"/>
          </a:xfrm>
          <a:prstGeom prst="rect">
            <a:avLst/>
          </a:prstGeom>
          <a:solidFill>
            <a:srgbClr val="45b8ac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751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2023-02-03T13:22:21Z</dcterms:created>
  <dc:creator>Juan Torres Gomez</dc:creator>
  <dc:description/>
  <dc:language>en-US</dc:language>
  <cp:lastModifiedBy/>
  <dcterms:modified xsi:type="dcterms:W3CDTF">2026-04-12T18:21:42Z</dcterms:modified>
  <cp:revision>14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0x010100F69870532C68744184BD33633616FE28</vt:lpwstr>
  </property>
  <property fmtid="{D5CDD505-2E9C-101B-9397-08002B2CF9AE}" pid="3" name="MediaServiceImageTags">
    <vt:lpwstr/>
  </property>
  <property fmtid="{D5CDD505-2E9C-101B-9397-08002B2CF9AE}" pid="4" name="PresentationFormat">
    <vt:lpwstr>Widescreen</vt:lpwstr>
  </property>
  <property fmtid="{D5CDD505-2E9C-101B-9397-08002B2CF9AE}" pid="5" name="Slides">
    <vt:r8>9</vt:r8>
  </property>
</Properties>
</file>